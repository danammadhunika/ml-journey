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(£)</c:v>
                </c:pt>
              </c:strCache>
            </c:strRef>
          </c:tx>
          <c:spPr>
            <a:solidFill>
              <a:srgbClr val="6B21A8"/>
            </a:solidFill>
            <a:ln w="38100" cap="flat">
              <a:solidFill>
                <a:srgbClr val="6B21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21A8"/>
              </a:solidFill>
              <a:ln w="9525" cap="flat">
                <a:solidFill>
                  <a:srgbClr val="6B21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Dec'10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Aug</c:v>
                  </c:pt>
                  <c:pt idx="9">
                    <c:v>Sep</c:v>
                  </c:pt>
                  <c:pt idx="10">
                    <c:v>Oct</c:v>
                  </c:pt>
                  <c:pt idx="11">
                    <c:v>Nov</c:v>
                  </c:pt>
                  <c:pt idx="12">
                    <c:v>Dec'11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823746</c:v>
                </c:pt>
                <c:pt idx="1">
                  <c:v>691364</c:v>
                </c:pt>
                <c:pt idx="2">
                  <c:v>523631</c:v>
                </c:pt>
                <c:pt idx="3">
                  <c:v>717639</c:v>
                </c:pt>
                <c:pt idx="4">
                  <c:v>537808</c:v>
                </c:pt>
                <c:pt idx="5">
                  <c:v>770536</c:v>
                </c:pt>
                <c:pt idx="6">
                  <c:v>761739</c:v>
                </c:pt>
                <c:pt idx="7">
                  <c:v>719221</c:v>
                </c:pt>
                <c:pt idx="8">
                  <c:v>737014</c:v>
                </c:pt>
                <c:pt idx="9">
                  <c:v>1058590</c:v>
                </c:pt>
                <c:pt idx="10">
                  <c:v>1154979</c:v>
                </c:pt>
                <c:pt idx="11">
                  <c:v>1509496</c:v>
                </c:pt>
                <c:pt idx="12">
                  <c:v>638792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9D5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21A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B21A8"/>
                </a:solidFill>
                <a:latin typeface="Arial"/>
              </a:rPr>
              <a:t>Top 5 VIP Customers by Spending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Spent (£)</c:v>
                </c:pt>
              </c:strCache>
            </c:strRef>
          </c:tx>
          <c:spPr>
            <a:solidFill>
              <a:srgbClr val="6B2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14646</c:v>
                  </c:pt>
                  <c:pt idx="1">
                    <c:v>18102</c:v>
                  </c:pt>
                  <c:pt idx="2">
                    <c:v>17450</c:v>
                  </c:pt>
                  <c:pt idx="3">
                    <c:v>16446</c:v>
                  </c:pt>
                  <c:pt idx="4">
                    <c:v>14911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280206</c:v>
                </c:pt>
                <c:pt idx="1">
                  <c:v>259657</c:v>
                </c:pt>
                <c:pt idx="2">
                  <c:v>194550</c:v>
                </c:pt>
                <c:pt idx="3">
                  <c:v>168472</c:v>
                </c:pt>
                <c:pt idx="4">
                  <c:v>143825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9D5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21A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B21A8"/>
                </a:solidFill>
                <a:latin typeface="Arial"/>
              </a:rPr>
              <a:t>Revenue Share — Top 5 Countries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bubble3D val="0"/>
            <c:spPr>
              <a:solidFill>
                <a:srgbClr val="9333EA"/>
              </a:solidFill>
              <a:effectLst/>
            </c:spPr>
          </c:dPt>
          <c:dPt>
            <c:idx val="2"/>
            <c:bubble3D val="0"/>
            <c:spPr>
              <a:solidFill>
                <a:srgbClr val="C084FC"/>
              </a:solidFill>
              <a:effectLst/>
            </c:spPr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</c:dPt>
          <c:dPt>
            <c:idx val="4"/>
            <c:bubble3D val="0"/>
            <c:spPr>
              <a:solidFill>
                <a:srgbClr val="C084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UK 89.9%</c:v>
                </c:pt>
                <c:pt idx="1">
                  <c:v>Netherlands 2.9%</c:v>
                </c:pt>
                <c:pt idx="2">
                  <c:v>EIRE 2.8%</c:v>
                </c:pt>
                <c:pt idx="3">
                  <c:v>Germany 2.3%</c:v>
                </c:pt>
                <c:pt idx="4">
                  <c:v>France 2.1%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9003097</c:v>
                </c:pt>
                <c:pt idx="1">
                  <c:v>285446</c:v>
                </c:pt>
                <c:pt idx="2">
                  <c:v>283453</c:v>
                </c:pt>
                <c:pt idx="3">
                  <c:v>228867</c:v>
                </c:pt>
                <c:pt idx="4">
                  <c:v>209715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21A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B21A8"/>
                </a:solidFill>
                <a:latin typeface="Arial"/>
              </a:rPr>
              <a:t>Top 6 Products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(£)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DOTCOM POSTAGE*</c:v>
                  </c:pt>
                  <c:pt idx="1">
                    <c:v>REGENCY CAKESTAND 3 TIER</c:v>
                  </c:pt>
                  <c:pt idx="2">
                    <c:v>PAPER CRAFT LITTLE BIRDIE</c:v>
                  </c:pt>
                  <c:pt idx="3">
                    <c:v>WHITE HANGING HEART T-LIGHT</c:v>
                  </c:pt>
                  <c:pt idx="4">
                    <c:v>PARTY BUNTING</c:v>
                  </c:pt>
                  <c:pt idx="5">
                    <c:v>JUMBO BAG RED RETROSPOT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206248</c:v>
                </c:pt>
                <c:pt idx="1">
                  <c:v>174484</c:v>
                </c:pt>
                <c:pt idx="2">
                  <c:v>168469</c:v>
                </c:pt>
                <c:pt idx="3">
                  <c:v>106292</c:v>
                </c:pt>
                <c:pt idx="4">
                  <c:v>99504</c:v>
                </c:pt>
                <c:pt idx="5">
                  <c:v>94340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9D5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project. 541,909 real transactions, 38 countries, £9.7M total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dataset, tools, and SQL concepts covered over 3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SQL concepts week by week. Week 3 is highlighted as most advanced.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headline numbers from the analysis. Each one tells a business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revenue shows strong seasonality. November is peak. December drops sharply as orders were already placed.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14646 is undisputed VIP at £280K. 24.93% guest checkout rate is a missed marketing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 dominates at 89.9% — dangerous concentration. Netherlands and Australia are high-value hidden markets.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REGENCY CAKESTAND is the true star product. DOTCOM POSTAGE is a shipping charge — flagged as data quality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these as interview-level SQL skills. CTEs, Window Functions, and LAG/LEAD show advanced data analyst 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HIGH priority actions: VIP program, market diversification, and converting guest checkouts.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Mention live Streamlit app and GitHub portfolio as proof of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1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9333EA">
              <a:alpha val="40000"/>
            </a:srgbClr>
          </a:solidFill>
          <a:ln w="12700">
            <a:solidFill>
              <a:srgbClr val="9333E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274320"/>
            <a:ext cx="1828800" cy="1828800"/>
          </a:xfrm>
          <a:prstGeom prst="ellipse">
            <a:avLst/>
          </a:prstGeom>
          <a:solidFill>
            <a:srgbClr val="C084FC">
              <a:alpha val="30000"/>
            </a:srgbClr>
          </a:solidFill>
          <a:ln w="12700">
            <a:solidFill>
              <a:srgbClr val="C084F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9333EA">
              <a:alpha val="35000"/>
            </a:srgbClr>
          </a:solidFill>
          <a:ln w="12700">
            <a:solidFill>
              <a:srgbClr val="9333E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C084FC">
              <a:alpha val="70000"/>
            </a:srgbClr>
          </a:solidFill>
          <a:ln w="12700">
            <a:solidFill>
              <a:srgbClr val="C084FC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ANALYTICS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&amp;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541,909 real transactions using SQL, Python &amp; Matplotlib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541,909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32461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9748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2461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£9.7M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2461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9516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Learning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Madhunika Danam  |  Connecticut, USA  |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UK-based online gift shop | December 2010 — December 2011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1965960" cy="1828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 rows | 8 columns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countries worldwide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2010 — Dec 2011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23444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554480"/>
            <a:ext cx="1965960" cy="1828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261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(ecommerce.db)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 created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| country_info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country_summary | monthly_summary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23444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3444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554480"/>
            <a:ext cx="1965960" cy="1828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261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Pandas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Seaborn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123444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123444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1554480"/>
            <a:ext cx="1965960" cy="1828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1261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Concepts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SELECT, WHERE, GROUP BY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JOINs, CASE WHEN, Dates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CTEs, Window Functions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LAG/LEAD, Python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Concepts Mastered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of progressive SQL learning — from basics to advanced analytics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61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Foundations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FROM, WHERE, LIMIT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ORDER BY, HAVING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MIN, MAX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DISTINCT, AS, Text Functions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1261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&amp; Logic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83280" y="21031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JOIN, LEFT JOIN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7432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&amp; Nested Queries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3832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(if/else logic)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40233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 — substr, strftime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1261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63640" y="21031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— WITH clause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7432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RANK, DENSE_RANK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3832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&amp; LEAD — trend analysis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0233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SQLite — pd.to_sql()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B21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9333EA">
              <a:alpha val="30000"/>
            </a:srgbClr>
          </a:solidFill>
          <a:ln w="12700">
            <a:solidFill>
              <a:srgbClr val="9333E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C084FC">
              <a:alpha val="25000"/>
            </a:srgbClr>
          </a:solidFill>
          <a:ln w="12700">
            <a:solidFill>
              <a:srgbClr val="C084FC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Findings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541,909 transactions revealed about this UK gift shop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£9.7M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2010 — December 2011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898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9385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UK Alone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2677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concentration risk!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898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£280K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9385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VIP Customer Spent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2677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14646 — #1 globally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186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£1.5M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5760" y="3767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Revenue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0965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2011 — Christmas buildup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1089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2186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24.9%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91840" y="3767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Checkout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40965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customers unregistered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1089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2186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£120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217920" y="3767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 Avg Order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40965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UK £25 — 5x more valuable!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— 541,909 transactions | December 2010 — December 2011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188720"/>
            <a:ext cx="2651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55080" y="12435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November 2011 = PEAK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55080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£1,509,496 — Christmas buildup!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63640" y="2057400"/>
            <a:ext cx="2651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21122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Feb 2011 = LOWEST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5080" y="2404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£523,631 — post-holiday drop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2926080"/>
            <a:ext cx="2651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29809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Sep → Nov Growth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55080" y="3273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+£354,517 biggest monthly jump!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63640" y="3794760"/>
            <a:ext cx="2651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38496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December Drop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55080" y="4142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-£870,703 — orders placed in Nov!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customers, guest checkouts, and spending patterns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88720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243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4,372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35040" y="1609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Registered Customers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2103120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2157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035040" y="2523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Spenders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3017520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30723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24.93%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35040" y="3438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Checkout Rate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931920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35040" y="39867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£280K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035040" y="4352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VIP Customer Spend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countries analyzed — revenue concentration and hidden opportunities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212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Tiers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12080" y="1600200"/>
            <a:ext cx="3657600" cy="749808"/>
          </a:xfrm>
          <a:prstGeom prst="roundRect">
            <a:avLst>
              <a:gd name="adj" fmla="val 12195"/>
            </a:avLst>
          </a:prstGeom>
          <a:solidFill>
            <a:srgbClr val="6B21A8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0352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Performer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0" y="1984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country | £9M+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12080" y="2468880"/>
            <a:ext cx="3657600" cy="749808"/>
          </a:xfrm>
          <a:prstGeom prst="roundRect">
            <a:avLst>
              <a:gd name="adj" fmla="val 12195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03520" y="2532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Mid Performer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0" y="2852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countries | £100K–£285K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12080" y="3337560"/>
            <a:ext cx="3657600" cy="749808"/>
          </a:xfrm>
          <a:prstGeom prst="roundRect">
            <a:avLst>
              <a:gd name="adj" fmla="val 12195"/>
            </a:avLst>
          </a:prstGeom>
          <a:solidFill>
            <a:srgbClr val="FAF7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0352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Low Performer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countries | Below £100K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12080" y="425196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0" y="427939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Netherlands = £120 avg order vs UK £25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= hidden gem — high value, low volume!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 — star performers and data quality insights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1887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55080" y="1261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Star Product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55080" y="15910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REGENCY CAKESTAND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£174,484 revenue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63640" y="23774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2450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Data Quality Alert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7797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DOTCOM POSTAGE is shipping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real product! £206K flagged.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35661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3639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Only 4 Products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5080" y="39684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above £100K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 concentration risk!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Window Functions, and LAG/LEAD — industry-level SQL skills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81328"/>
            <a:ext cx="2651760" cy="1828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— Common Table Expression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E1033"/>
          </a:solidFill>
          <a:ln w="12700">
            <a:solidFill>
              <a:srgbClr val="1E1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92224"/>
            <a:ext cx="2377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customer_spending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SUM(Quantity*UnitPrice)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 GROUP BY CustomerID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customer_spending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Python variable — stores a query result and reuses it. Makes complex queries readable!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81328"/>
            <a:ext cx="2651760" cy="1828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16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DENSE_RANK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755648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E1033"/>
          </a:solidFill>
          <a:ln w="12700">
            <a:solidFill>
              <a:srgbClr val="1E1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792224"/>
            <a:ext cx="2377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 OVER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 BY Country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total_spent DESC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country_rank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34930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customers within each country without collapsing rows — unlike GROUP BY!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8872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481328"/>
            <a:ext cx="2651760" cy="1828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216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&amp; LEAD — Trend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755648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E1033"/>
          </a:solidFill>
          <a:ln w="12700">
            <a:solidFill>
              <a:srgbClr val="1E10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792224"/>
            <a:ext cx="2377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LAG(revenue,1) OVER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month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prev_revenue,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- LAG(revenue,1)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 (ORDER BY month) AS growth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34930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looks backward — LEAD looks forward. Perfect for month-on-month revenue growth!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actions to grow revenue and reduce risk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21A8"/>
                </a:solidFill>
              </a:rPr>
              <a:t>HIGH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Launch VIP Loyalty Program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391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drive massive revenue. Customer 14646 alone = £280K. Retain them with exclusive rewards and personal account managers!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2588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258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21A8"/>
                </a:solidFill>
              </a:rPr>
              <a:t>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37560" y="1645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Diversify Beyond UK Market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0391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 revenue from one country is dangerous. Target Netherlands (£120 avg order) and Germany for aggressive international growth!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32588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3258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21A8"/>
                </a:solidFill>
              </a:rPr>
              <a:t>HIGH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63640" y="1645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Convert Guest Checkouts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0391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24.93% of customers shop as guests — 1 in 4! Offer incentives to register and capture this missed marketing opportunity!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20040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004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33EA"/>
                </a:solidFill>
              </a:rPr>
              <a:t>MED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520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August Marketing Campaign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91363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climbs from September. Launch marketing in August to capture Christmas buildup early and maximize the peak season!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31089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20040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2004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33EA"/>
                </a:solidFill>
              </a:rPr>
              <a:t>MED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🦘 Invest in Australian Market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91363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= only 1,185 orders but £138K revenue. Very high order value hidden gem — invest in targeted campaigns!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31089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20040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2004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33EA"/>
                </a:solidFill>
              </a:rPr>
              <a:t>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63640" y="3520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Clean Product 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91363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DOTCOM POSTAGE and Manual entries pollute product analysis. Separate shipping charges from real products for accurate reporting!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B21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9333EA">
              <a:alpha val="35000"/>
            </a:srgbClr>
          </a:solidFill>
          <a:ln w="12700">
            <a:solidFill>
              <a:srgbClr val="9333E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C084FC">
              <a:alpha val="28000"/>
            </a:srgbClr>
          </a:solidFill>
          <a:ln w="12700">
            <a:solidFill>
              <a:srgbClr val="C084FC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E-commerce SQL Analytics Complete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541,909 transactions analyzed using SQL + 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21 days of progressive SQL learning — Week 1 to Week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Advanced SQL: CTEs, Window Functions, LAG &amp; LEAD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 summary tables saved to SQLite database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 professional visualizations created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 business insights extracted and recommended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53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Madhunika Danam  |  danammadhunika@gmail.com  |  github.com/Danammadhunika  |  Connecticut, USA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SQL Analytics</dc:title>
  <dc:subject>PptxGenJS Presentation</dc:subject>
  <dc:creator>Madhunika Danam</dc:creator>
  <cp:lastModifiedBy>Madhunika Danam</cp:lastModifiedBy>
  <cp:revision>1</cp:revision>
  <dcterms:created xsi:type="dcterms:W3CDTF">2026-06-12T18:45:11Z</dcterms:created>
  <dcterms:modified xsi:type="dcterms:W3CDTF">2026-06-12T18:45:11Z</dcterms:modified>
</cp:coreProperties>
</file>